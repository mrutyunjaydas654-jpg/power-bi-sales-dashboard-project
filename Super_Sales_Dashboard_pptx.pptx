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mprakashpanda215@gmail.com" userId="c0d3c355ea44428c" providerId="LiveId" clId="{356F08DF-6F18-4A88-9A91-663A470C56C4}"/>
    <pc:docChg chg="undo custSel modSld">
      <pc:chgData name="ommprakashpanda215@gmail.com" userId="c0d3c355ea44428c" providerId="LiveId" clId="{356F08DF-6F18-4A88-9A91-663A470C56C4}" dt="2026-10-08T06:29:56.677" v="10" actId="20577"/>
      <pc:docMkLst>
        <pc:docMk/>
      </pc:docMkLst>
      <pc:sldChg chg="modSp mod">
        <pc:chgData name="ommprakashpanda215@gmail.com" userId="c0d3c355ea44428c" providerId="LiveId" clId="{356F08DF-6F18-4A88-9A91-663A470C56C4}" dt="2026-10-08T06:28:25.593" v="4" actId="2711"/>
        <pc:sldMkLst>
          <pc:docMk/>
          <pc:sldMk cId="1661326151" sldId="256"/>
        </pc:sldMkLst>
        <pc:spChg chg="mod">
          <ac:chgData name="ommprakashpanda215@gmail.com" userId="c0d3c355ea44428c" providerId="LiveId" clId="{356F08DF-6F18-4A88-9A91-663A470C56C4}" dt="2026-10-08T06:27:50.101" v="0" actId="2711"/>
          <ac:spMkLst>
            <pc:docMk/>
            <pc:sldMk cId="1661326151" sldId="256"/>
            <ac:spMk id="3" creationId="{856A29B8-AB17-4A46-98B5-BBC0CC920F06}"/>
          </ac:spMkLst>
        </pc:spChg>
        <pc:spChg chg="mod">
          <ac:chgData name="ommprakashpanda215@gmail.com" userId="c0d3c355ea44428c" providerId="LiveId" clId="{356F08DF-6F18-4A88-9A91-663A470C56C4}" dt="2026-10-08T06:28:06.139" v="1" actId="2711"/>
          <ac:spMkLst>
            <pc:docMk/>
            <pc:sldMk cId="1661326151" sldId="256"/>
            <ac:spMk id="4" creationId="{6BBF14AB-8260-4E2C-BA60-DF9FD6F2B96E}"/>
          </ac:spMkLst>
        </pc:spChg>
        <pc:spChg chg="mod">
          <ac:chgData name="ommprakashpanda215@gmail.com" userId="c0d3c355ea44428c" providerId="LiveId" clId="{356F08DF-6F18-4A88-9A91-663A470C56C4}" dt="2026-10-08T06:28:25.593" v="4" actId="2711"/>
          <ac:spMkLst>
            <pc:docMk/>
            <pc:sldMk cId="1661326151" sldId="256"/>
            <ac:spMk id="7" creationId="{E4F47116-E385-4E1F-A847-140C8128DFA1}"/>
          </ac:spMkLst>
        </pc:spChg>
        <pc:spChg chg="mod">
          <ac:chgData name="ommprakashpanda215@gmail.com" userId="c0d3c355ea44428c" providerId="LiveId" clId="{356F08DF-6F18-4A88-9A91-663A470C56C4}" dt="2026-10-08T06:28:14.443" v="3" actId="1076"/>
          <ac:spMkLst>
            <pc:docMk/>
            <pc:sldMk cId="1661326151" sldId="256"/>
            <ac:spMk id="8" creationId="{4FDA9C8C-A514-446A-958A-64D0530CC69C}"/>
          </ac:spMkLst>
        </pc:spChg>
      </pc:sldChg>
      <pc:sldChg chg="modNotesTx">
        <pc:chgData name="ommprakashpanda215@gmail.com" userId="c0d3c355ea44428c" providerId="LiveId" clId="{356F08DF-6F18-4A88-9A91-663A470C56C4}" dt="2026-10-08T06:29:56.677" v="10" actId="20577"/>
        <pc:sldMkLst>
          <pc:docMk/>
          <pc:sldMk cId="1866292287" sldId="257"/>
        </pc:sldMkLst>
      </pc:sldChg>
      <pc:sldChg chg="modNotesTx">
        <pc:chgData name="ommprakashpanda215@gmail.com" userId="c0d3c355ea44428c" providerId="LiveId" clId="{356F08DF-6F18-4A88-9A91-663A470C56C4}" dt="2026-10-08T06:29:48.846" v="9" actId="20577"/>
        <pc:sldMkLst>
          <pc:docMk/>
          <pc:sldMk cId="848909692" sldId="258"/>
        </pc:sldMkLst>
      </pc:sldChg>
      <pc:sldChg chg="modNotesTx">
        <pc:chgData name="ommprakashpanda215@gmail.com" userId="c0d3c355ea44428c" providerId="LiveId" clId="{356F08DF-6F18-4A88-9A91-663A470C56C4}" dt="2026-10-08T06:29:40.985" v="8" actId="20577"/>
        <pc:sldMkLst>
          <pc:docMk/>
          <pc:sldMk cId="180892334" sldId="259"/>
        </pc:sldMkLst>
      </pc:sldChg>
      <pc:sldChg chg="modNotesTx">
        <pc:chgData name="ommprakashpanda215@gmail.com" userId="c0d3c355ea44428c" providerId="LiveId" clId="{356F08DF-6F18-4A88-9A91-663A470C56C4}" dt="2026-10-08T06:29:37.115" v="7" actId="20577"/>
        <pc:sldMkLst>
          <pc:docMk/>
          <pc:sldMk cId="1129532149" sldId="260"/>
        </pc:sldMkLst>
      </pc:sldChg>
      <pc:sldChg chg="modNotesTx">
        <pc:chgData name="ommprakashpanda215@gmail.com" userId="c0d3c355ea44428c" providerId="LiveId" clId="{356F08DF-6F18-4A88-9A91-663A470C56C4}" dt="2026-10-08T06:29:33.190" v="6" actId="20577"/>
        <pc:sldMkLst>
          <pc:docMk/>
          <pc:sldMk cId="837120240" sldId="261"/>
        </pc:sldMkLst>
      </pc:sldChg>
      <pc:sldChg chg="modNotesTx">
        <pc:chgData name="ommprakashpanda215@gmail.com" userId="c0d3c355ea44428c" providerId="LiveId" clId="{356F08DF-6F18-4A88-9A91-663A470C56C4}" dt="2026-10-08T06:29:22.204" v="5" actId="20577"/>
        <pc:sldMkLst>
          <pc:docMk/>
          <pc:sldMk cId="1476731988" sldId="262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2019</c:v>
          </c:tx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3</c:v>
              </c:pt>
              <c:pt idx="1">
                <c:v>4</c:v>
              </c:pt>
              <c:pt idx="2">
                <c:v>7</c:v>
              </c:pt>
              <c:pt idx="3">
                <c:v>6</c:v>
              </c:pt>
              <c:pt idx="4">
                <c:v>7</c:v>
              </c:pt>
              <c:pt idx="5">
                <c:v>6</c:v>
              </c:pt>
              <c:pt idx="6">
                <c:v>6</c:v>
              </c:pt>
              <c:pt idx="7">
                <c:v>5</c:v>
              </c:pt>
              <c:pt idx="8">
                <c:v>9</c:v>
              </c:pt>
              <c:pt idx="9">
                <c:v>6</c:v>
              </c:pt>
              <c:pt idx="10">
                <c:v>10</c:v>
              </c:pt>
              <c:pt idx="11">
                <c:v>10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29A-46CC-A252-03B5AD6A4199}"/>
            </c:ext>
          </c:extLst>
        </c:ser>
        <c:ser>
          <c:idx val="1"/>
          <c:order val="1"/>
          <c:tx>
            <c:v>2020</c:v>
          </c:tx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8</c:v>
              </c:pt>
              <c:pt idx="1">
                <c:v>8</c:v>
              </c:pt>
              <c:pt idx="2">
                <c:v>12</c:v>
              </c:pt>
              <c:pt idx="3">
                <c:v>9</c:v>
              </c:pt>
              <c:pt idx="4">
                <c:v>12</c:v>
              </c:pt>
              <c:pt idx="5">
                <c:v>11</c:v>
              </c:pt>
              <c:pt idx="6">
                <c:v>10</c:v>
              </c:pt>
              <c:pt idx="7">
                <c:v>11</c:v>
              </c:pt>
              <c:pt idx="8">
                <c:v>18</c:v>
              </c:pt>
              <c:pt idx="9">
                <c:v>13</c:v>
              </c:pt>
              <c:pt idx="10">
                <c:v>19</c:v>
              </c:pt>
              <c:pt idx="11">
                <c:v>22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829A-46CC-A252-03B5AD6A4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CBD2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Super Sales Dashboard screenshot (dashboard values and visual evidence).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866CF7-EADD-405C-A104-D961AD12EE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68BF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0D0610-823D-48EB-BA88-EC7E6E3625E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8BF2"/>
                </a:solidFill>
              </a:defRPr>
            </a:pPr>
            <a:r>
              <a:rPr sz="1050" b="1">
                <a:solidFill>
                  <a:srgbClr val="168BF2"/>
                </a:solidFill>
              </a:rPr>
              <a:t>DATA ANALYTICS PORTFOLIO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A29B8-AB17-4A46-98B5-BBC0CC920F0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334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 dirty="0">
                <a:solidFill>
                  <a:srgbClr val="111827"/>
                </a:solidFill>
                <a:latin typeface="Bodoni MT" panose="02070603080606020203" pitchFamily="18" charset="0"/>
              </a:rPr>
              <a:t>Super Sales</a:t>
            </a:r>
          </a:p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 dirty="0">
                <a:solidFill>
                  <a:srgbClr val="111827"/>
                </a:solidFill>
                <a:latin typeface="Bodoni MT" panose="02070603080606020203" pitchFamily="18" charset="0"/>
              </a:rPr>
              <a:t>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BF14AB-8260-4E2C-BA60-DF9FD6F2B96E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857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5F6B7A"/>
                </a:solidFill>
              </a:defRPr>
            </a:pPr>
            <a:r>
              <a:rPr sz="1800" b="0" dirty="0">
                <a:solidFill>
                  <a:srgbClr val="5F6B7A"/>
                </a:solidFill>
                <a:latin typeface="Calisto MT" panose="02040603050505030304" pitchFamily="18" charset="0"/>
              </a:rPr>
              <a:t>A Power BI project that turns sales performance into clear management actions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829C14-4787-4A24-B493-AF4B622B360A}"/>
              </a:ext>
            </a:extLst>
          </p:cNvPr>
          <p:cNvSpPr>
            <a:spLocks noGrp="1"/>
          </p:cNvSpPr>
          <p:nvPr/>
        </p:nvSpPr>
        <p:spPr>
          <a:xfrm>
            <a:off x="6572250" y="666750"/>
            <a:ext cx="4933950" cy="5143500"/>
          </a:xfrm>
          <a:prstGeom prst="rect">
            <a:avLst/>
          </a:prstGeom>
          <a:solidFill>
            <a:srgbClr val="EEF2F4"/>
          </a:solidFill>
          <a:ln w="0">
            <a:noFill/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1961620"/>
            <a:ext cx="4552950" cy="25537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F47116-E385-4E1F-A847-140C8128DFA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 dirty="0">
                <a:solidFill>
                  <a:srgbClr val="111827"/>
                </a:solidFill>
                <a:latin typeface="Calisto MT" panose="02040603050505030304" pitchFamily="18" charset="0"/>
              </a:rPr>
              <a:t>Mrutyunjay Das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A9C8C-A514-446A-958A-64D0530CC69C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 Analytics Project Showcase</a:t>
            </a:r>
          </a:p>
        </p:txBody>
      </p:sp>
    </p:spTree>
    <p:extLst>
      <p:ext uri="{BB962C8B-B14F-4D97-AF65-F5344CB8AC3E}">
        <p14:creationId xmlns:p14="http://schemas.microsoft.com/office/powerpoint/2010/main" val="166132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B475009-BD14-42C0-A25D-764BA5FC393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C2DDF3-184A-4E0F-A567-11AE4707677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One dashboard connects performance to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069C2-F954-4561-8FC0-031BA0FC53C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B6271-6244-41C2-9E38-9A2F52ACEDC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68BF2"/>
                </a:solidFill>
              </a:defRPr>
            </a:pPr>
            <a:r>
              <a:rPr sz="1350" b="1">
                <a:solidFill>
                  <a:srgbClr val="168BF2"/>
                </a:solidFill>
              </a:rPr>
              <a:t>Business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22022-9025-4830-B809-06B168899467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Where is revenue coming from—and where should management focus next?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23D4E2-5C24-49C1-A8F8-98FA5A0B3485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The report combines financial, customer, product, logistics, geographic, and time-based views in one interactive experience.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20D9B-7C31-4530-BC48-F04174145A71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2190750" cy="1428750"/>
          </a:xfrm>
          <a:prstGeom prst="rect">
            <a:avLst/>
          </a:prstGeom>
          <a:solidFill>
            <a:srgbClr val="EEF2F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9BC53-EC5C-4F16-AE96-D5F052231D9F}"/>
              </a:ext>
            </a:extLst>
          </p:cNvPr>
          <p:cNvSpPr>
            <a:spLocks noGrp="1"/>
          </p:cNvSpPr>
          <p:nvPr/>
        </p:nvSpPr>
        <p:spPr>
          <a:xfrm>
            <a:off x="6362700" y="2000250"/>
            <a:ext cx="1847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1.6M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A4909-6945-460E-83D0-86868914DC41}"/>
              </a:ext>
            </a:extLst>
          </p:cNvPr>
          <p:cNvSpPr>
            <a:spLocks noGrp="1"/>
          </p:cNvSpPr>
          <p:nvPr/>
        </p:nvSpPr>
        <p:spPr>
          <a:xfrm>
            <a:off x="6362700" y="26670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6B7A"/>
                </a:solidFill>
              </a:defRPr>
            </a:pPr>
            <a:r>
              <a:rPr sz="1275" b="1">
                <a:solidFill>
                  <a:srgbClr val="5F6B7A"/>
                </a:solidFill>
              </a:rPr>
              <a:t>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038123-1856-443F-89AF-86939FCA301B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2190750" cy="1428750"/>
          </a:xfrm>
          <a:prstGeom prst="rect">
            <a:avLst/>
          </a:prstGeom>
          <a:solidFill>
            <a:srgbClr val="DDF1E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3EF326-164F-4282-BDB2-2DADEC8BB3B0}"/>
              </a:ext>
            </a:extLst>
          </p:cNvPr>
          <p:cNvSpPr>
            <a:spLocks noGrp="1"/>
          </p:cNvSpPr>
          <p:nvPr/>
        </p:nvSpPr>
        <p:spPr>
          <a:xfrm>
            <a:off x="8934450" y="2000250"/>
            <a:ext cx="1847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87B57"/>
                </a:solidFill>
              </a:defRPr>
            </a:pPr>
            <a:r>
              <a:rPr sz="2850" b="1">
                <a:solidFill>
                  <a:srgbClr val="087B57"/>
                </a:solidFill>
              </a:rPr>
              <a:t>175K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F97C0-5B5C-46A0-AF08-2CDFA3BB96A9}"/>
              </a:ext>
            </a:extLst>
          </p:cNvPr>
          <p:cNvSpPr>
            <a:spLocks noGrp="1"/>
          </p:cNvSpPr>
          <p:nvPr/>
        </p:nvSpPr>
        <p:spPr>
          <a:xfrm>
            <a:off x="8934450" y="26670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6B7A"/>
                </a:solidFill>
              </a:defRPr>
            </a:pPr>
            <a:r>
              <a:rPr sz="1275" b="1">
                <a:solidFill>
                  <a:srgbClr val="5F6B7A"/>
                </a:solidFill>
              </a:rPr>
              <a:t>Profit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73F5B-31BC-4EAE-A120-6411B3C5668A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2190750" cy="1428750"/>
          </a:xfrm>
          <a:prstGeom prst="rect">
            <a:avLst/>
          </a:prstGeom>
          <a:solidFill>
            <a:srgbClr val="EEF2F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2FF94-7DA5-49AA-9A30-E7A85A6196FB}"/>
              </a:ext>
            </a:extLst>
          </p:cNvPr>
          <p:cNvSpPr>
            <a:spLocks noGrp="1"/>
          </p:cNvSpPr>
          <p:nvPr/>
        </p:nvSpPr>
        <p:spPr>
          <a:xfrm>
            <a:off x="6362700" y="3905250"/>
            <a:ext cx="1847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22K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A3AE4-008A-42AD-88DC-963F6F48DCC1}"/>
              </a:ext>
            </a:extLst>
          </p:cNvPr>
          <p:cNvSpPr>
            <a:spLocks noGrp="1"/>
          </p:cNvSpPr>
          <p:nvPr/>
        </p:nvSpPr>
        <p:spPr>
          <a:xfrm>
            <a:off x="6362700" y="45720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6B7A"/>
                </a:solidFill>
              </a:defRPr>
            </a:pPr>
            <a:r>
              <a:rPr sz="1275" b="1">
                <a:solidFill>
                  <a:srgbClr val="5F6B7A"/>
                </a:solidFill>
              </a:rPr>
              <a:t>Quantity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AA53AF-9AFE-4FDC-A14D-C4698025E91F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190750" cy="1428750"/>
          </a:xfrm>
          <a:prstGeom prst="rect">
            <a:avLst/>
          </a:prstGeom>
          <a:solidFill>
            <a:srgbClr val="EEF2F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0170C4-FDCB-4165-A5D2-A2DA16338317}"/>
              </a:ext>
            </a:extLst>
          </p:cNvPr>
          <p:cNvSpPr>
            <a:spLocks noGrp="1"/>
          </p:cNvSpPr>
          <p:nvPr/>
        </p:nvSpPr>
        <p:spPr>
          <a:xfrm>
            <a:off x="8934450" y="3905250"/>
            <a:ext cx="1847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CE06E1-5818-491D-97C2-ADE4049B8331}"/>
              </a:ext>
            </a:extLst>
          </p:cNvPr>
          <p:cNvSpPr>
            <a:spLocks noGrp="1"/>
          </p:cNvSpPr>
          <p:nvPr/>
        </p:nvSpPr>
        <p:spPr>
          <a:xfrm>
            <a:off x="8934450" y="45720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F6B7A"/>
                </a:solidFill>
              </a:defRPr>
            </a:pPr>
            <a:r>
              <a:rPr sz="1275" b="1">
                <a:solidFill>
                  <a:srgbClr val="5F6B7A"/>
                </a:solidFill>
              </a:rPr>
              <a:t>Ship days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9B6F09-42E2-49BE-8B3D-8864E9A268D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629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FC37D9C-4BE3-45F0-82ED-E780B64B557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0AFABB-8C32-41FA-B5EE-CB3D04378FC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West, East, and Consumer concentrate demand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7C74C-409B-4543-83FD-2A6475C2862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AA3CE-3302-45B8-84DC-CA6890C0AA1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Regional contribution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3918B-D4CA-4EFB-81FE-B31377533768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2FD96-A85E-423A-A463-F27463244C4F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E07F0-1785-4C91-A956-013FB4FF37EE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245179" cy="228600"/>
          </a:xfrm>
          <a:prstGeom prst="rect">
            <a:avLst/>
          </a:prstGeom>
          <a:solidFill>
            <a:srgbClr val="168BF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92214-C99D-47EB-B15A-264DFBE3C0D0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33%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E9B6B-033B-418B-A699-0793C4CA8DAE}"/>
              </a:ext>
            </a:extLst>
          </p:cNvPr>
          <p:cNvSpPr>
            <a:spLocks noGrp="1"/>
          </p:cNvSpPr>
          <p:nvPr/>
        </p:nvSpPr>
        <p:spPr>
          <a:xfrm>
            <a:off x="685800" y="2833688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East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1ACEA0-5269-4C39-9ED3-81860EE67BC2}"/>
              </a:ext>
            </a:extLst>
          </p:cNvPr>
          <p:cNvSpPr>
            <a:spLocks noGrp="1"/>
          </p:cNvSpPr>
          <p:nvPr/>
        </p:nvSpPr>
        <p:spPr>
          <a:xfrm>
            <a:off x="2400300" y="2871788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C6E00-D3E2-4D8B-A3BD-E6D649F14639}"/>
              </a:ext>
            </a:extLst>
          </p:cNvPr>
          <p:cNvSpPr>
            <a:spLocks noGrp="1"/>
          </p:cNvSpPr>
          <p:nvPr/>
        </p:nvSpPr>
        <p:spPr>
          <a:xfrm>
            <a:off x="2400300" y="2871788"/>
            <a:ext cx="1973036" cy="228600"/>
          </a:xfrm>
          <a:prstGeom prst="rect">
            <a:avLst/>
          </a:prstGeom>
          <a:solidFill>
            <a:srgbClr val="1832A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B3B21-45CD-4BF1-B033-A1359A7C0740}"/>
              </a:ext>
            </a:extLst>
          </p:cNvPr>
          <p:cNvSpPr>
            <a:spLocks noGrp="1"/>
          </p:cNvSpPr>
          <p:nvPr/>
        </p:nvSpPr>
        <p:spPr>
          <a:xfrm>
            <a:off x="4953000" y="2833688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29%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72413-DC43-449B-B14A-760905B788E7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Central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DD4AC-A37A-42D9-90F3-33E4AE1631E5}"/>
              </a:ext>
            </a:extLst>
          </p:cNvPr>
          <p:cNvSpPr>
            <a:spLocks noGrp="1"/>
          </p:cNvSpPr>
          <p:nvPr/>
        </p:nvSpPr>
        <p:spPr>
          <a:xfrm>
            <a:off x="2400300" y="3467100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FA024-7AB8-429F-A976-E1C4BC19A6BB}"/>
              </a:ext>
            </a:extLst>
          </p:cNvPr>
          <p:cNvSpPr>
            <a:spLocks noGrp="1"/>
          </p:cNvSpPr>
          <p:nvPr/>
        </p:nvSpPr>
        <p:spPr>
          <a:xfrm>
            <a:off x="2400300" y="3467100"/>
            <a:ext cx="1496786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489CA-2A37-46BA-AAA1-DE99422B55D7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22%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24734B-2F0E-46E6-9365-B76DA528916B}"/>
              </a:ext>
            </a:extLst>
          </p:cNvPr>
          <p:cNvSpPr>
            <a:spLocks noGrp="1"/>
          </p:cNvSpPr>
          <p:nvPr/>
        </p:nvSpPr>
        <p:spPr>
          <a:xfrm>
            <a:off x="685800" y="4024313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South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3D5721-590A-4120-A6C5-724FC06AECCB}"/>
              </a:ext>
            </a:extLst>
          </p:cNvPr>
          <p:cNvSpPr>
            <a:spLocks noGrp="1"/>
          </p:cNvSpPr>
          <p:nvPr/>
        </p:nvSpPr>
        <p:spPr>
          <a:xfrm>
            <a:off x="2400300" y="4062413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4C943B-4C82-4760-840F-6E140C8D4274}"/>
              </a:ext>
            </a:extLst>
          </p:cNvPr>
          <p:cNvSpPr>
            <a:spLocks noGrp="1"/>
          </p:cNvSpPr>
          <p:nvPr/>
        </p:nvSpPr>
        <p:spPr>
          <a:xfrm>
            <a:off x="2400300" y="4062413"/>
            <a:ext cx="1088571" cy="2286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0CD84B-13BA-4DEF-B5D0-B36A64028813}"/>
              </a:ext>
            </a:extLst>
          </p:cNvPr>
          <p:cNvSpPr>
            <a:spLocks noGrp="1"/>
          </p:cNvSpPr>
          <p:nvPr/>
        </p:nvSpPr>
        <p:spPr>
          <a:xfrm>
            <a:off x="4953000" y="4024313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16%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BB9BF4-A27A-4952-AB82-5E37629CB76E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Customer segment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2DC77-497B-4048-B3AE-CC3D2364D810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Consumer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B108FD-48A4-418E-971D-CC9CE265B429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EAC775-C6C4-4076-8070-711EFE2729F4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286000" cy="228600"/>
          </a:xfrm>
          <a:prstGeom prst="rect">
            <a:avLst/>
          </a:prstGeom>
          <a:solidFill>
            <a:srgbClr val="168BF2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1427EE-C603-47C2-AB3F-0235FA2F796A}"/>
              </a:ext>
            </a:extLst>
          </p:cNvPr>
          <p:cNvSpPr>
            <a:spLocks noGrp="1"/>
          </p:cNvSpPr>
          <p:nvPr/>
        </p:nvSpPr>
        <p:spPr>
          <a:xfrm>
            <a:off x="107442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48%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25EB49-78A9-4F8A-B90C-7DD19273B5F2}"/>
              </a:ext>
            </a:extLst>
          </p:cNvPr>
          <p:cNvSpPr>
            <a:spLocks noGrp="1"/>
          </p:cNvSpPr>
          <p:nvPr/>
        </p:nvSpPr>
        <p:spPr>
          <a:xfrm>
            <a:off x="6477000" y="2889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Corporate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74BCFE-44E2-4D60-A418-B7DF595279D1}"/>
              </a:ext>
            </a:extLst>
          </p:cNvPr>
          <p:cNvSpPr>
            <a:spLocks noGrp="1"/>
          </p:cNvSpPr>
          <p:nvPr/>
        </p:nvSpPr>
        <p:spPr>
          <a:xfrm>
            <a:off x="8191500" y="2927350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47F519-1D58-4212-83E7-DF92E5DB4376}"/>
              </a:ext>
            </a:extLst>
          </p:cNvPr>
          <p:cNvSpPr>
            <a:spLocks noGrp="1"/>
          </p:cNvSpPr>
          <p:nvPr/>
        </p:nvSpPr>
        <p:spPr>
          <a:xfrm>
            <a:off x="8191500" y="2927350"/>
            <a:ext cx="1571625" cy="228600"/>
          </a:xfrm>
          <a:prstGeom prst="rect">
            <a:avLst/>
          </a:prstGeom>
          <a:solidFill>
            <a:srgbClr val="1832A7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4F9CCD-5281-4C4A-8EA0-B742CB29A12B}"/>
              </a:ext>
            </a:extLst>
          </p:cNvPr>
          <p:cNvSpPr>
            <a:spLocks noGrp="1"/>
          </p:cNvSpPr>
          <p:nvPr/>
        </p:nvSpPr>
        <p:spPr>
          <a:xfrm>
            <a:off x="10744200" y="28892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33%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EAAC3E-E708-42BE-BC26-F65078483A60}"/>
              </a:ext>
            </a:extLst>
          </p:cNvPr>
          <p:cNvSpPr>
            <a:spLocks noGrp="1"/>
          </p:cNvSpPr>
          <p:nvPr/>
        </p:nvSpPr>
        <p:spPr>
          <a:xfrm>
            <a:off x="6477000" y="35401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Home Office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3821D7-A7F9-45CD-B0CA-0D754DB661B9}"/>
              </a:ext>
            </a:extLst>
          </p:cNvPr>
          <p:cNvSpPr>
            <a:spLocks noGrp="1"/>
          </p:cNvSpPr>
          <p:nvPr/>
        </p:nvSpPr>
        <p:spPr>
          <a:xfrm>
            <a:off x="8191500" y="357822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AF7AAB-B637-4054-B8F9-C5849379552B}"/>
              </a:ext>
            </a:extLst>
          </p:cNvPr>
          <p:cNvSpPr>
            <a:spLocks noGrp="1"/>
          </p:cNvSpPr>
          <p:nvPr/>
        </p:nvSpPr>
        <p:spPr>
          <a:xfrm>
            <a:off x="8191500" y="3578225"/>
            <a:ext cx="904875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C8F2FC-EC23-4B1E-8CBA-5B180103E7BB}"/>
              </a:ext>
            </a:extLst>
          </p:cNvPr>
          <p:cNvSpPr>
            <a:spLocks noGrp="1"/>
          </p:cNvSpPr>
          <p:nvPr/>
        </p:nvSpPr>
        <p:spPr>
          <a:xfrm>
            <a:off x="10744200" y="35401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19%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789F11-64AB-4BF4-B344-CBB240CBD6FF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0820400" cy="685800"/>
          </a:xfrm>
          <a:prstGeom prst="rect">
            <a:avLst/>
          </a:prstGeom>
          <a:solidFill>
            <a:srgbClr val="EAF5FD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FC7EE-26AA-4AD4-9036-D61B59FFCC08}"/>
              </a:ext>
            </a:extLst>
          </p:cNvPr>
          <p:cNvSpPr>
            <a:spLocks noGrp="1"/>
          </p:cNvSpPr>
          <p:nvPr/>
        </p:nvSpPr>
        <p:spPr>
          <a:xfrm>
            <a:off x="933450" y="5334000"/>
            <a:ext cx="904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68BF2"/>
                </a:solidFill>
              </a:defRPr>
            </a:pPr>
            <a:r>
              <a:rPr sz="2250" b="1">
                <a:solidFill>
                  <a:srgbClr val="168BF2"/>
                </a:solidFill>
              </a:rPr>
              <a:t>62%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5FA5FD-B261-46AD-9C4C-6966210C8627}"/>
              </a:ext>
            </a:extLst>
          </p:cNvPr>
          <p:cNvSpPr>
            <a:spLocks noGrp="1"/>
          </p:cNvSpPr>
          <p:nvPr/>
        </p:nvSpPr>
        <p:spPr>
          <a:xfrm>
            <a:off x="1952625" y="530542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of sales comes from West + East; Consumer alone contributes nearly half.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C2C0C7-EDCC-40C0-A0D0-D551FFBC825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890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CDF6671-D105-42E1-907D-31E3C91790C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49DCC-3340-47FF-A8F4-1D4E2B233F2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Office Supplies leads; Phones top the displayed sub-categories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F9AE9B-5E3F-408D-98C2-79F63BEDBE2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624A2-6FB4-43C8-BCF4-0896D6B0665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Category sales (M)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9FE1C-BD72-46F5-BFBA-666436AAFA9A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Office Supplies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7FE19-F281-4A39-BE2A-674A2E0421CA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BADF8B-1763-4C15-80D2-E8577BFE7F7E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177143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E22CE-D672-4E29-8885-3918F9550364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0.64M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7EDEB-05C3-4465-9737-8C9AD39B5706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Technology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0CCB8-656B-40E7-B160-A5DFFF176349}"/>
              </a:ext>
            </a:extLst>
          </p:cNvPr>
          <p:cNvSpPr>
            <a:spLocks noGrp="1"/>
          </p:cNvSpPr>
          <p:nvPr/>
        </p:nvSpPr>
        <p:spPr>
          <a:xfrm>
            <a:off x="2400300" y="294322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AF82EE-A53F-4ADD-8646-33C38DA238A1}"/>
              </a:ext>
            </a:extLst>
          </p:cNvPr>
          <p:cNvSpPr>
            <a:spLocks noGrp="1"/>
          </p:cNvSpPr>
          <p:nvPr/>
        </p:nvSpPr>
        <p:spPr>
          <a:xfrm>
            <a:off x="2400300" y="2943225"/>
            <a:ext cx="1598839" cy="228600"/>
          </a:xfrm>
          <a:prstGeom prst="rect">
            <a:avLst/>
          </a:prstGeom>
          <a:solidFill>
            <a:srgbClr val="1832A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478F68-29CB-450D-8A9A-C058A1AFC45D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0.47M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C2C4F-6D36-410F-9184-95668074CD57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Furniture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AD3A9-F6D8-4BDD-AD92-84EE87137B62}"/>
              </a:ext>
            </a:extLst>
          </p:cNvPr>
          <p:cNvSpPr>
            <a:spLocks noGrp="1"/>
          </p:cNvSpPr>
          <p:nvPr/>
        </p:nvSpPr>
        <p:spPr>
          <a:xfrm>
            <a:off x="2400300" y="36099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E431A-D4AA-4015-8926-B29BC109A9DB}"/>
              </a:ext>
            </a:extLst>
          </p:cNvPr>
          <p:cNvSpPr>
            <a:spLocks noGrp="1"/>
          </p:cNvSpPr>
          <p:nvPr/>
        </p:nvSpPr>
        <p:spPr>
          <a:xfrm>
            <a:off x="2400300" y="3609975"/>
            <a:ext cx="1530804" cy="228600"/>
          </a:xfrm>
          <a:prstGeom prst="rect">
            <a:avLst/>
          </a:prstGeom>
          <a:solidFill>
            <a:srgbClr val="0BCF29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6C5DF0-D4CE-4302-9815-8549741D5E93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0.45M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AC49F-0F93-4B18-A1AC-A70636DBC6FC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Top displayed sub-categories (M)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FBFC62-E58C-42CE-B21B-0E4C96994B99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Phones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BDF862-E95E-46EB-AE73-8EE3EA493C5A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A47315-91A6-405C-92EA-0C2E4D146603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164773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E91E33-7AE1-41FD-A34D-7FCEFEC0357D}"/>
              </a:ext>
            </a:extLst>
          </p:cNvPr>
          <p:cNvSpPr>
            <a:spLocks noGrp="1"/>
          </p:cNvSpPr>
          <p:nvPr/>
        </p:nvSpPr>
        <p:spPr>
          <a:xfrm>
            <a:off x="107442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0.2M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8960F3-F7E4-490C-B636-B589B48D12A7}"/>
              </a:ext>
            </a:extLst>
          </p:cNvPr>
          <p:cNvSpPr>
            <a:spLocks noGrp="1"/>
          </p:cNvSpPr>
          <p:nvPr/>
        </p:nvSpPr>
        <p:spPr>
          <a:xfrm>
            <a:off x="6477000" y="29051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Chairs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A30AB6-D655-48FE-90F8-4C304B9E7DEF}"/>
              </a:ext>
            </a:extLst>
          </p:cNvPr>
          <p:cNvSpPr>
            <a:spLocks noGrp="1"/>
          </p:cNvSpPr>
          <p:nvPr/>
        </p:nvSpPr>
        <p:spPr>
          <a:xfrm>
            <a:off x="8191500" y="294322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9051E4-8937-4CFA-A669-C43163FB52AF}"/>
              </a:ext>
            </a:extLst>
          </p:cNvPr>
          <p:cNvSpPr>
            <a:spLocks noGrp="1"/>
          </p:cNvSpPr>
          <p:nvPr/>
        </p:nvSpPr>
        <p:spPr>
          <a:xfrm>
            <a:off x="8191500" y="2943225"/>
            <a:ext cx="1948295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C0FE1-E15F-408A-A6E4-8F93C25308B0}"/>
              </a:ext>
            </a:extLst>
          </p:cNvPr>
          <p:cNvSpPr>
            <a:spLocks noGrp="1"/>
          </p:cNvSpPr>
          <p:nvPr/>
        </p:nvSpPr>
        <p:spPr>
          <a:xfrm>
            <a:off x="10744200" y="29051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0.18M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69F4C7-A43C-48D7-991E-0509BD282991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Binders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CEDD22-C95D-4235-A012-50DD6A1CE931}"/>
              </a:ext>
            </a:extLst>
          </p:cNvPr>
          <p:cNvSpPr>
            <a:spLocks noGrp="1"/>
          </p:cNvSpPr>
          <p:nvPr/>
        </p:nvSpPr>
        <p:spPr>
          <a:xfrm>
            <a:off x="8191500" y="36099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22AF8A-99BF-4CBA-926E-8E1E6CECC19E}"/>
              </a:ext>
            </a:extLst>
          </p:cNvPr>
          <p:cNvSpPr>
            <a:spLocks noGrp="1"/>
          </p:cNvSpPr>
          <p:nvPr/>
        </p:nvSpPr>
        <p:spPr>
          <a:xfrm>
            <a:off x="8191500" y="3609975"/>
            <a:ext cx="1840057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457D2C-90FB-4E1E-9D7B-4AC3FCA0A41A}"/>
              </a:ext>
            </a:extLst>
          </p:cNvPr>
          <p:cNvSpPr>
            <a:spLocks noGrp="1"/>
          </p:cNvSpPr>
          <p:nvPr/>
        </p:nvSpPr>
        <p:spPr>
          <a:xfrm>
            <a:off x="10744200" y="35718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0.17M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5B1AC1-7B76-497E-A00F-54590F7D5A57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68BF2"/>
                </a:solidFill>
              </a:defRPr>
            </a:pPr>
            <a:r>
              <a:rPr sz="1350" b="1">
                <a:solidFill>
                  <a:srgbClr val="168BF2"/>
                </a:solidFill>
              </a:rPr>
              <a:t>Portfolio implication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591972-7F55-473F-90D7-92CFDB94570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Use Office Supplies as the volume anchor, then cross-sell Technology products to increase value per customer.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5A8C09-E2CC-4341-9D8B-7B874B94C28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89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29844768-C53B-4268-BD01-28F910F1361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32622-93D6-4791-872C-4AE6D764F86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Standard shipping and COD dominate the operating mix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9AD88-FD9F-4A12-9760-14A93D1E62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6A5AC-051C-4A17-B512-E1C83097F9C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Sales by ship mode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938B9-464B-4733-8D3F-D0C4CDE56308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Standard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09F3D1-84EA-4DEE-9A28-E983D4B2E8D9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C61C3F-6B3A-4A47-B279-516A23B7C1FC}"/>
              </a:ext>
            </a:extLst>
          </p:cNvPr>
          <p:cNvSpPr>
            <a:spLocks noGrp="1"/>
          </p:cNvSpPr>
          <p:nvPr/>
        </p:nvSpPr>
        <p:spPr>
          <a:xfrm>
            <a:off x="2400300" y="2276475"/>
            <a:ext cx="2245179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9BBDA-6CB0-4CB1-9966-2DB26DBE7411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0.33M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E7310-4190-42A7-A29B-0F6AC0BC74B0}"/>
              </a:ext>
            </a:extLst>
          </p:cNvPr>
          <p:cNvSpPr>
            <a:spLocks noGrp="1"/>
          </p:cNvSpPr>
          <p:nvPr/>
        </p:nvSpPr>
        <p:spPr>
          <a:xfrm>
            <a:off x="685800" y="2833688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Second Class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C60916-094A-42DB-8BBE-CF2044FF5838}"/>
              </a:ext>
            </a:extLst>
          </p:cNvPr>
          <p:cNvSpPr>
            <a:spLocks noGrp="1"/>
          </p:cNvSpPr>
          <p:nvPr/>
        </p:nvSpPr>
        <p:spPr>
          <a:xfrm>
            <a:off x="2400300" y="2871788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1BCDC4-AE7C-4240-89D6-7E8D1F887AF7}"/>
              </a:ext>
            </a:extLst>
          </p:cNvPr>
          <p:cNvSpPr>
            <a:spLocks noGrp="1"/>
          </p:cNvSpPr>
          <p:nvPr/>
        </p:nvSpPr>
        <p:spPr>
          <a:xfrm>
            <a:off x="2400300" y="2871788"/>
            <a:ext cx="748393" cy="228600"/>
          </a:xfrm>
          <a:prstGeom prst="rect">
            <a:avLst/>
          </a:prstGeom>
          <a:solidFill>
            <a:srgbClr val="168BF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EC9F9-A9C4-4DC0-8996-7E8902E5CE94}"/>
              </a:ext>
            </a:extLst>
          </p:cNvPr>
          <p:cNvSpPr>
            <a:spLocks noGrp="1"/>
          </p:cNvSpPr>
          <p:nvPr/>
        </p:nvSpPr>
        <p:spPr>
          <a:xfrm>
            <a:off x="4953000" y="2833688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0.11M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98420F-343C-42F4-9724-7967710184E3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First 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14E7B9-5709-4AAB-98EF-3E305FDC8EDD}"/>
              </a:ext>
            </a:extLst>
          </p:cNvPr>
          <p:cNvSpPr>
            <a:spLocks noGrp="1"/>
          </p:cNvSpPr>
          <p:nvPr/>
        </p:nvSpPr>
        <p:spPr>
          <a:xfrm>
            <a:off x="2400300" y="3467100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7FC7F-70FB-4C1D-B799-0E2D9F4DFC70}"/>
              </a:ext>
            </a:extLst>
          </p:cNvPr>
          <p:cNvSpPr>
            <a:spLocks noGrp="1"/>
          </p:cNvSpPr>
          <p:nvPr/>
        </p:nvSpPr>
        <p:spPr>
          <a:xfrm>
            <a:off x="2400300" y="3467100"/>
            <a:ext cx="544286" cy="228600"/>
          </a:xfrm>
          <a:prstGeom prst="rect">
            <a:avLst/>
          </a:prstGeom>
          <a:solidFill>
            <a:srgbClr val="1832A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78723A-9443-4C12-90F8-612B5824C1B3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0.08M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789B95-2569-40A8-B18D-36225B28E956}"/>
              </a:ext>
            </a:extLst>
          </p:cNvPr>
          <p:cNvSpPr>
            <a:spLocks noGrp="1"/>
          </p:cNvSpPr>
          <p:nvPr/>
        </p:nvSpPr>
        <p:spPr>
          <a:xfrm>
            <a:off x="685800" y="4024313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Same Day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B7096-D6AE-4B41-B00E-41CB1B82D746}"/>
              </a:ext>
            </a:extLst>
          </p:cNvPr>
          <p:cNvSpPr>
            <a:spLocks noGrp="1"/>
          </p:cNvSpPr>
          <p:nvPr/>
        </p:nvSpPr>
        <p:spPr>
          <a:xfrm>
            <a:off x="2400300" y="4062413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2E0A67-4A78-4C39-B31B-76D26C55B89C}"/>
              </a:ext>
            </a:extLst>
          </p:cNvPr>
          <p:cNvSpPr>
            <a:spLocks noGrp="1"/>
          </p:cNvSpPr>
          <p:nvPr/>
        </p:nvSpPr>
        <p:spPr>
          <a:xfrm>
            <a:off x="2400300" y="4062413"/>
            <a:ext cx="204107" cy="228600"/>
          </a:xfrm>
          <a:prstGeom prst="rect">
            <a:avLst/>
          </a:prstGeom>
          <a:solidFill>
            <a:srgbClr val="0BCF29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E67048-7FE6-449E-AF86-D14DF1BFFA08}"/>
              </a:ext>
            </a:extLst>
          </p:cNvPr>
          <p:cNvSpPr>
            <a:spLocks noGrp="1"/>
          </p:cNvSpPr>
          <p:nvPr/>
        </p:nvSpPr>
        <p:spPr>
          <a:xfrm>
            <a:off x="4953000" y="4024313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0.03M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D03109-0176-4FC9-B22B-F44946CD843A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Payment mode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D86577-A710-4BB3-B6C8-44BE4494C820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D3CF55-CBA3-452B-8E36-5C9506E973FE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0099E6-3FA5-4378-A708-E09A9A5E885E}"/>
              </a:ext>
            </a:extLst>
          </p:cNvPr>
          <p:cNvSpPr>
            <a:spLocks noGrp="1"/>
          </p:cNvSpPr>
          <p:nvPr/>
        </p:nvSpPr>
        <p:spPr>
          <a:xfrm>
            <a:off x="8191500" y="2276475"/>
            <a:ext cx="2275417" cy="228600"/>
          </a:xfrm>
          <a:prstGeom prst="rect">
            <a:avLst/>
          </a:prstGeom>
          <a:solidFill>
            <a:srgbClr val="F07A3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51D1B5-AFF6-4E3E-A614-186613BB7C9E}"/>
              </a:ext>
            </a:extLst>
          </p:cNvPr>
          <p:cNvSpPr>
            <a:spLocks noGrp="1"/>
          </p:cNvSpPr>
          <p:nvPr/>
        </p:nvSpPr>
        <p:spPr>
          <a:xfrm>
            <a:off x="10744200" y="2238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43%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EFA3E9-65D8-4107-8D00-D1B4F2E6AAEB}"/>
              </a:ext>
            </a:extLst>
          </p:cNvPr>
          <p:cNvSpPr>
            <a:spLocks noGrp="1"/>
          </p:cNvSpPr>
          <p:nvPr/>
        </p:nvSpPr>
        <p:spPr>
          <a:xfrm>
            <a:off x="6477000" y="2889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Online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8FDC38-825E-4F19-8F55-AFA1EA5586AE}"/>
              </a:ext>
            </a:extLst>
          </p:cNvPr>
          <p:cNvSpPr>
            <a:spLocks noGrp="1"/>
          </p:cNvSpPr>
          <p:nvPr/>
        </p:nvSpPr>
        <p:spPr>
          <a:xfrm>
            <a:off x="8191500" y="2927350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DA262E-5433-45EB-A8BC-0474048AA9B5}"/>
              </a:ext>
            </a:extLst>
          </p:cNvPr>
          <p:cNvSpPr>
            <a:spLocks noGrp="1"/>
          </p:cNvSpPr>
          <p:nvPr/>
        </p:nvSpPr>
        <p:spPr>
          <a:xfrm>
            <a:off x="8191500" y="2927350"/>
            <a:ext cx="1852083" cy="228600"/>
          </a:xfrm>
          <a:prstGeom prst="rect">
            <a:avLst/>
          </a:prstGeom>
          <a:solidFill>
            <a:srgbClr val="1832A7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7A7BB2-78E7-4877-A86C-16B7B637113F}"/>
              </a:ext>
            </a:extLst>
          </p:cNvPr>
          <p:cNvSpPr>
            <a:spLocks noGrp="1"/>
          </p:cNvSpPr>
          <p:nvPr/>
        </p:nvSpPr>
        <p:spPr>
          <a:xfrm>
            <a:off x="10744200" y="28892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35%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BA0D73-F192-448E-99FE-13258376FFDC}"/>
              </a:ext>
            </a:extLst>
          </p:cNvPr>
          <p:cNvSpPr>
            <a:spLocks noGrp="1"/>
          </p:cNvSpPr>
          <p:nvPr/>
        </p:nvSpPr>
        <p:spPr>
          <a:xfrm>
            <a:off x="6477000" y="35401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Cards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6DB695-6E16-4B97-BF0B-DF2764D750CA}"/>
              </a:ext>
            </a:extLst>
          </p:cNvPr>
          <p:cNvSpPr>
            <a:spLocks noGrp="1"/>
          </p:cNvSpPr>
          <p:nvPr/>
        </p:nvSpPr>
        <p:spPr>
          <a:xfrm>
            <a:off x="8191500" y="3578225"/>
            <a:ext cx="2381250" cy="22860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777310-C67F-4A27-AC08-2D49664EAEF2}"/>
              </a:ext>
            </a:extLst>
          </p:cNvPr>
          <p:cNvSpPr>
            <a:spLocks noGrp="1"/>
          </p:cNvSpPr>
          <p:nvPr/>
        </p:nvSpPr>
        <p:spPr>
          <a:xfrm>
            <a:off x="8191500" y="3578225"/>
            <a:ext cx="1164167" cy="228600"/>
          </a:xfrm>
          <a:prstGeom prst="rect">
            <a:avLst/>
          </a:prstGeom>
          <a:solidFill>
            <a:srgbClr val="168BF2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F78796-14A6-4B09-92A3-5652CF48E2A2}"/>
              </a:ext>
            </a:extLst>
          </p:cNvPr>
          <p:cNvSpPr>
            <a:spLocks noGrp="1"/>
          </p:cNvSpPr>
          <p:nvPr/>
        </p:nvSpPr>
        <p:spPr>
          <a:xfrm>
            <a:off x="10744200" y="35401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22%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EF75EE-FDC0-4AB6-8B97-BF754E03D814}"/>
              </a:ext>
            </a:extLst>
          </p:cNvPr>
          <p:cNvSpPr>
            <a:spLocks noGrp="1"/>
          </p:cNvSpPr>
          <p:nvPr/>
        </p:nvSpPr>
        <p:spPr>
          <a:xfrm>
            <a:off x="6477000" y="4714875"/>
            <a:ext cx="4762500" cy="1066800"/>
          </a:xfrm>
          <a:prstGeom prst="rect">
            <a:avLst/>
          </a:prstGeom>
          <a:solidFill>
            <a:srgbClr val="FFF2EA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9B890A-FF6E-43F1-B0A9-E49482ABA5E4}"/>
              </a:ext>
            </a:extLst>
          </p:cNvPr>
          <p:cNvSpPr>
            <a:spLocks noGrp="1"/>
          </p:cNvSpPr>
          <p:nvPr/>
        </p:nvSpPr>
        <p:spPr>
          <a:xfrm>
            <a:off x="6715125" y="48101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07A3A"/>
                </a:solidFill>
              </a:defRPr>
            </a:pPr>
            <a:r>
              <a:rPr sz="1275" b="1">
                <a:solidFill>
                  <a:srgbClr val="F07A3A"/>
                </a:solidFill>
              </a:rPr>
              <a:t>Opportunity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A47EEF-BF79-4617-82A5-4BB268C91DEF}"/>
              </a:ext>
            </a:extLst>
          </p:cNvPr>
          <p:cNvSpPr>
            <a:spLocks noGrp="1"/>
          </p:cNvSpPr>
          <p:nvPr/>
        </p:nvSpPr>
        <p:spPr>
          <a:xfrm>
            <a:off x="6715125" y="5095875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Review Standard Class cost and encourage prepaid digital payments where practical.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C418A0-1FCC-4C77-A779-126F4D8430C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953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72D1EB-A9AD-4410-B16F-84C667E101F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BC9AB8-DE77-4B50-A58F-8B607669665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Performance strengthens late in the year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21908-1AE4-4635-A8E2-5CE3211CAD1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8EFCC-B842-490A-81A7-5B264EDB491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The dashboard’s monthly views show sales and profit reaching their strongest levels toward year-end, with December especially prominent.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8BC37-4EB3-4D84-A1BA-DE14106D7DC3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68BF2"/>
                </a:solidFill>
              </a:defRPr>
            </a:pPr>
            <a:r>
              <a:rPr sz="1350" b="1">
                <a:solidFill>
                  <a:srgbClr val="168BF2"/>
                </a:solidFill>
              </a:rPr>
              <a:t>Management response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A968C-8836-4718-9B79-0E1F5DC86266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857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• Build inventory before the late-year rise</a:t>
            </a:r>
          </a:p>
          <a:p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• Align campaigns with peak months</a:t>
            </a:r>
          </a:p>
          <a:p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• Investigate the recurring mid-year softness</a:t>
            </a:r>
          </a:p>
          <a:p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• Validate whether seasonality repeats across regions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096000" y="1762125"/>
          <a:ext cx="51435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27D9FAB-8105-478E-8B81-DC9FA3C2AB91}"/>
              </a:ext>
            </a:extLst>
          </p:cNvPr>
          <p:cNvSpPr>
            <a:spLocks noGrp="1"/>
          </p:cNvSpPr>
          <p:nvPr/>
        </p:nvSpPr>
        <p:spPr>
          <a:xfrm>
            <a:off x="6334125" y="5429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Trend reconstructed directionally from the visible dashboard lines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5629FA-D97F-42A9-AC86-FD3AEA51D82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712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15917F4-83C1-46CB-9C61-83EBB01CD98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SUPER SALES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998A8-5292-4D60-8C19-14AB6A4F24E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The dashboard turns seven findings into a focused action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530A96-B4D9-43A6-B7D8-C037BC0CB97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F2941-38A6-441D-B7F0-B49DE92F52B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68BF2"/>
                </a:solidFill>
              </a:defRPr>
            </a:pPr>
            <a:r>
              <a:rPr sz="1275" b="1">
                <a:solidFill>
                  <a:srgbClr val="168BF2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3D1F49-6476-4930-8EC0-F145FE429B57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17145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D447D-9AA7-4CEE-A5F4-1FFBDD1996E2}"/>
              </a:ext>
            </a:extLst>
          </p:cNvPr>
          <p:cNvSpPr>
            <a:spLocks noGrp="1"/>
          </p:cNvSpPr>
          <p:nvPr/>
        </p:nvSpPr>
        <p:spPr>
          <a:xfrm>
            <a:off x="3286125" y="17145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Protect core regions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CC0BF-F42D-4BA6-BA2F-78934AD7799A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Maintain West and East momentum while diagnosing South.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503DDB-9D7B-447C-993E-D665537F088B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68BF2"/>
                </a:solidFill>
              </a:defRPr>
            </a:pPr>
            <a:r>
              <a:rPr sz="1275" b="1">
                <a:solidFill>
                  <a:srgbClr val="168BF2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B9B77F-E2F8-490B-94E2-A13261142AA7}"/>
              </a:ext>
            </a:extLst>
          </p:cNvPr>
          <p:cNvSpPr>
            <a:spLocks noGrp="1"/>
          </p:cNvSpPr>
          <p:nvPr/>
        </p:nvSpPr>
        <p:spPr>
          <a:xfrm>
            <a:off x="1333500" y="2667000"/>
            <a:ext cx="17145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8B5964-06F2-44B7-958B-DD501E2B925D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Double down on Consumer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F74BC8-E26B-4820-BE9A-261A3E3154FF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Target the segment responsible for 48% of sales.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0F5E40-020D-4B8D-9ABA-9634E98DD567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68BF2"/>
                </a:solidFill>
              </a:defRPr>
            </a:pPr>
            <a:r>
              <a:rPr sz="1275" b="1">
                <a:solidFill>
                  <a:srgbClr val="168BF2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A687AB-AFF1-498B-8850-5B19DC941E71}"/>
              </a:ext>
            </a:extLst>
          </p:cNvPr>
          <p:cNvSpPr>
            <a:spLocks noGrp="1"/>
          </p:cNvSpPr>
          <p:nvPr/>
        </p:nvSpPr>
        <p:spPr>
          <a:xfrm>
            <a:off x="1333500" y="3524250"/>
            <a:ext cx="17145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6B65CB-79F5-4644-A77D-784C927DBACD}"/>
              </a:ext>
            </a:extLst>
          </p:cNvPr>
          <p:cNvSpPr>
            <a:spLocks noGrp="1"/>
          </p:cNvSpPr>
          <p:nvPr/>
        </p:nvSpPr>
        <p:spPr>
          <a:xfrm>
            <a:off x="3286125" y="34290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Plan for year-end demand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57FAD-6251-4E08-B6AD-30804EF7336F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Prepare inventory and campaigns before the late-year rise.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7CD99E-A816-4A42-AF22-C5D3A5895875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68BF2"/>
                </a:solidFill>
              </a:defRPr>
            </a:pPr>
            <a:r>
              <a:rPr sz="1275" b="1">
                <a:solidFill>
                  <a:srgbClr val="168BF2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83BBCA-4182-4A92-8651-556E60C700C7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17145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84FF3-98DF-4DD8-AAB8-E85D93936ED9}"/>
              </a:ext>
            </a:extLst>
          </p:cNvPr>
          <p:cNvSpPr>
            <a:spLocks noGrp="1"/>
          </p:cNvSpPr>
          <p:nvPr/>
        </p:nvSpPr>
        <p:spPr>
          <a:xfrm>
            <a:off x="3286125" y="42862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Optimize mix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2D50B-7BFF-40B8-A5AE-19E015FC928E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Cross-sell Technology and review Standard Class economics.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F45DC5-65E9-4BB4-B683-1354A34A7BC6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68BF2"/>
                </a:solidFill>
              </a:defRPr>
            </a:pPr>
            <a:r>
              <a:rPr sz="1275" b="1">
                <a:solidFill>
                  <a:srgbClr val="168BF2"/>
                </a:solidFill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3ECD7-7E7F-43C5-87B6-E381B35CECC4}"/>
              </a:ext>
            </a:extLst>
          </p:cNvPr>
          <p:cNvSpPr>
            <a:spLocks noGrp="1"/>
          </p:cNvSpPr>
          <p:nvPr/>
        </p:nvSpPr>
        <p:spPr>
          <a:xfrm>
            <a:off x="1333500" y="5238750"/>
            <a:ext cx="1714500" cy="19050"/>
          </a:xfrm>
          <a:prstGeom prst="rect">
            <a:avLst/>
          </a:prstGeom>
          <a:solidFill>
            <a:srgbClr val="CBD2D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24D105-ED80-4D34-BA5F-8E8432D77140}"/>
              </a:ext>
            </a:extLst>
          </p:cNvPr>
          <p:cNvSpPr>
            <a:spLocks noGrp="1"/>
          </p:cNvSpPr>
          <p:nvPr/>
        </p:nvSpPr>
        <p:spPr>
          <a:xfrm>
            <a:off x="3286125" y="51435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Improve payment quality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F2CADA-D0F3-4010-9313-35636141A5E5}"/>
              </a:ext>
            </a:extLst>
          </p:cNvPr>
          <p:cNvSpPr>
            <a:spLocks noGrp="1"/>
          </p:cNvSpPr>
          <p:nvPr/>
        </p:nvSpPr>
        <p:spPr>
          <a:xfrm>
            <a:off x="6477000" y="51435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Encourage prepaid digital methods where suitable.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3EB19D-22A8-49BB-8F88-035096D42E71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8204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72230F-FB0E-41BF-8B62-F3189B2AD44D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Portfolio-ready analysis: clear metrics, evidence-based insights, and business recommendations.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19143A-C8A1-4457-BF03-291FCE099B8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67319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DocSecurity>0</DocSecurity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Bodoni MT</vt:lpstr>
      <vt:lpstr>Calibri</vt:lpstr>
      <vt:lpstr>Calisto MT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MRUTYUNJAY DAS</cp:lastModifiedBy>
  <cp:revision>1</cp:revision>
  <dcterms:created xsi:type="dcterms:W3CDTF">2026-08-26T07:07:33Z</dcterms:created>
  <dcterms:modified xsi:type="dcterms:W3CDTF">2026-10-08T06:30:01Z</dcterms:modified>
</cp:coreProperties>
</file>